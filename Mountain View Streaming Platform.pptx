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20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69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02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136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17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039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0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36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29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24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9846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37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56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09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12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43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A43C3F9-63EB-4E14-86E2-59CE3D440CF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87D70-829C-40F9-8799-5A93F575C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405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D1D3-6625-29C3-EB88-843E2AEE6D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cap="all" dirty="0"/>
              <a:t>Mountain View Streaming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31167-5B79-2EF7-797A-9A41A764E8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3600" b="1" dirty="0"/>
              <a:t>Movie Recommender System Analysis</a:t>
            </a:r>
          </a:p>
          <a:p>
            <a:r>
              <a:rPr lang="en-US" sz="2800" dirty="0"/>
              <a:t>Leveraging matrix factorization and content analysis to reduce churn through personalized content surfacing.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976677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6989D2-4ADD-08BA-08FA-57BDAEE52087}"/>
              </a:ext>
            </a:extLst>
          </p:cNvPr>
          <p:cNvSpPr txBox="1"/>
          <p:nvPr/>
        </p:nvSpPr>
        <p:spPr>
          <a:xfrm>
            <a:off x="424542" y="674913"/>
            <a:ext cx="92746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BUSINESS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98FFA-D76D-9921-D98C-86714EBEB866}"/>
              </a:ext>
            </a:extLst>
          </p:cNvPr>
          <p:cNvSpPr txBox="1"/>
          <p:nvPr/>
        </p:nvSpPr>
        <p:spPr>
          <a:xfrm>
            <a:off x="838200" y="1797784"/>
            <a:ext cx="27540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i="0" u="none" strike="noStrike" baseline="0" dirty="0">
                <a:latin typeface="PlayfairDisplay-ExtraBold"/>
              </a:rPr>
              <a:t>The problem</a:t>
            </a:r>
          </a:p>
          <a:p>
            <a:pPr algn="l"/>
            <a:r>
              <a:rPr lang="en-US" sz="2800" b="1" i="0" u="none" strike="noStrike" baseline="0" dirty="0">
                <a:latin typeface="PlayfairDisplay-ExtraBold"/>
              </a:rPr>
              <a:t>User </a:t>
            </a:r>
            <a:r>
              <a:rPr lang="en-US" sz="2800" b="1" i="0" u="none" strike="noStrike" dirty="0">
                <a:latin typeface="PlayfairDisplay-ExtraBold"/>
              </a:rPr>
              <a:t>Churn</a:t>
            </a:r>
          </a:p>
          <a:p>
            <a:pPr algn="l"/>
            <a:r>
              <a:rPr lang="en-US" sz="2000" b="0" i="0" u="none" strike="noStrike" baseline="0" dirty="0">
                <a:latin typeface="T3Font_6"/>
              </a:rPr>
              <a:t>Mountain View Platform faces a critical challenge</a:t>
            </a:r>
            <a:r>
              <a:rPr lang="en-US" sz="2000" b="0" i="0" u="none" strike="noStrike" baseline="0" dirty="0">
                <a:latin typeface="T3Font_7"/>
              </a:rPr>
              <a:t>: </a:t>
            </a:r>
            <a:r>
              <a:rPr lang="en-US" sz="2000" b="0" i="0" u="none" strike="noStrike" baseline="0" dirty="0">
                <a:latin typeface="T3Font_6"/>
              </a:rPr>
              <a:t>users are </a:t>
            </a:r>
            <a:r>
              <a:rPr lang="en-US" sz="2000" b="0" i="0" u="none" strike="noStrike" baseline="0" dirty="0">
                <a:latin typeface="T3Font_8"/>
              </a:rPr>
              <a:t>leaving the platform </a:t>
            </a:r>
            <a:r>
              <a:rPr lang="en-US" sz="2000" b="0" i="0" u="none" strike="noStrike" baseline="0" dirty="0">
                <a:latin typeface="T3Font_6"/>
              </a:rPr>
              <a:t>when</a:t>
            </a:r>
          </a:p>
          <a:p>
            <a:pPr algn="l"/>
            <a:r>
              <a:rPr lang="en-US" sz="2000" b="0" i="0" u="none" strike="noStrike" baseline="0" dirty="0">
                <a:latin typeface="T3Font_6"/>
              </a:rPr>
              <a:t>recommended content fails to match their unique viewing</a:t>
            </a:r>
          </a:p>
          <a:p>
            <a:pPr algn="l"/>
            <a:r>
              <a:rPr lang="en-US" sz="2000" b="0" i="0" u="none" strike="noStrike" baseline="0" dirty="0">
                <a:latin typeface="T3Font_6"/>
              </a:rPr>
              <a:t>preferences</a:t>
            </a:r>
            <a:r>
              <a:rPr lang="en-US" sz="2000" b="0" i="0" u="none" strike="noStrike" baseline="0" dirty="0">
                <a:latin typeface="T3Font_7"/>
              </a:rPr>
              <a:t>.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F7A27-CA1F-1FB2-612F-21A6DE933F6E}"/>
              </a:ext>
            </a:extLst>
          </p:cNvPr>
          <p:cNvSpPr txBox="1"/>
          <p:nvPr/>
        </p:nvSpPr>
        <p:spPr>
          <a:xfrm>
            <a:off x="4212771" y="1797784"/>
            <a:ext cx="322217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goal</a:t>
            </a:r>
          </a:p>
          <a:p>
            <a:r>
              <a:rPr lang="en-US" sz="2800" b="1" dirty="0"/>
              <a:t>Personalization</a:t>
            </a:r>
          </a:p>
          <a:p>
            <a:r>
              <a:rPr lang="en-US" sz="2000" dirty="0"/>
              <a:t>Reduce churn by personalizing</a:t>
            </a:r>
          </a:p>
          <a:p>
            <a:r>
              <a:rPr lang="en-US" sz="2000" dirty="0"/>
              <a:t>the home screen specifically</a:t>
            </a:r>
          </a:p>
          <a:p>
            <a:r>
              <a:rPr lang="en-US" sz="2000" dirty="0"/>
              <a:t>for returning users who have</a:t>
            </a:r>
          </a:p>
          <a:p>
            <a:r>
              <a:rPr lang="en-US" sz="2000" dirty="0"/>
              <a:t>provided at least 10 historical</a:t>
            </a:r>
          </a:p>
          <a:p>
            <a:r>
              <a:rPr lang="en-US" sz="2000" dirty="0"/>
              <a:t>ratings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743F8A-C190-6F08-FBB5-475F58BC724B}"/>
              </a:ext>
            </a:extLst>
          </p:cNvPr>
          <p:cNvSpPr txBox="1"/>
          <p:nvPr/>
        </p:nvSpPr>
        <p:spPr>
          <a:xfrm>
            <a:off x="8403774" y="1797784"/>
            <a:ext cx="310242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 strategy</a:t>
            </a:r>
          </a:p>
          <a:p>
            <a:r>
              <a:rPr lang="en-US" sz="2800" b="1" dirty="0"/>
              <a:t>Top-5 Delivery</a:t>
            </a:r>
          </a:p>
          <a:p>
            <a:r>
              <a:rPr lang="en-US" sz="2000" dirty="0"/>
              <a:t>Surface the Top-5</a:t>
            </a:r>
          </a:p>
          <a:p>
            <a:r>
              <a:rPr lang="en-US" sz="2000" dirty="0"/>
              <a:t>personalized movies.</a:t>
            </a:r>
          </a:p>
          <a:p>
            <a:r>
              <a:rPr lang="en-US" sz="2000" dirty="0"/>
              <a:t>For new users, an onboarding survey of</a:t>
            </a:r>
          </a:p>
          <a:p>
            <a:r>
              <a:rPr lang="en-US" sz="2000" dirty="0"/>
              <a:t>5-10 popular titles mitigates the cold-start problem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156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F93EA1-FAFD-FE6D-FF5F-49FA495DFDC9}"/>
              </a:ext>
            </a:extLst>
          </p:cNvPr>
          <p:cNvSpPr txBox="1"/>
          <p:nvPr/>
        </p:nvSpPr>
        <p:spPr>
          <a:xfrm>
            <a:off x="1741714" y="363220"/>
            <a:ext cx="7772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OBJECTIVES AND SUCCESS</a:t>
            </a:r>
            <a:r>
              <a:rPr lang="en-US" sz="4400" b="1" dirty="0"/>
              <a:t> CRITERIA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2C361-3F9A-EDCB-8220-F958FB04C1AB}"/>
              </a:ext>
            </a:extLst>
          </p:cNvPr>
          <p:cNvSpPr txBox="1"/>
          <p:nvPr/>
        </p:nvSpPr>
        <p:spPr>
          <a:xfrm>
            <a:off x="4882242" y="2416237"/>
            <a:ext cx="1937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BA8B72-08D1-6B51-F10E-B7C4DFBAE431}"/>
              </a:ext>
            </a:extLst>
          </p:cNvPr>
          <p:cNvSpPr txBox="1"/>
          <p:nvPr/>
        </p:nvSpPr>
        <p:spPr>
          <a:xfrm>
            <a:off x="3276600" y="2459388"/>
            <a:ext cx="273231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SVD outperforms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KNNBasic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improves SVD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Top-5 personalized recommendations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cold-start users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E5C3E7-F2A7-BC81-7C9E-81A0B99E576F}"/>
              </a:ext>
            </a:extLst>
          </p:cNvPr>
          <p:cNvSpPr txBox="1"/>
          <p:nvPr/>
        </p:nvSpPr>
        <p:spPr>
          <a:xfrm>
            <a:off x="7053945" y="1809770"/>
            <a:ext cx="4386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SVD outperforms KNN Basics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328D89-27F1-D067-85F4-23390D121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088" y="2336239"/>
            <a:ext cx="5083626" cy="41399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57E2C7-54AA-2705-BE27-0214F6A55DE4}"/>
              </a:ext>
            </a:extLst>
          </p:cNvPr>
          <p:cNvSpPr txBox="1"/>
          <p:nvPr/>
        </p:nvSpPr>
        <p:spPr>
          <a:xfrm>
            <a:off x="542110" y="2600903"/>
            <a:ext cx="2732314" cy="2979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objectives</a:t>
            </a: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.Increase user retention</a:t>
            </a:r>
          </a:p>
          <a:p>
            <a:pPr>
              <a:lnSpc>
                <a:spcPts val="1425"/>
              </a:lnSpc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Ø"/>
            </a:pPr>
            <a:b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 engagement</a:t>
            </a: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Ø"/>
            </a:pPr>
            <a:b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Balance popular content with personalized recommendations</a:t>
            </a:r>
          </a:p>
          <a:p>
            <a:pPr marL="285750" indent="-285750">
              <a:lnSpc>
                <a:spcPts val="1425"/>
              </a:lnSpc>
              <a:buFont typeface="Wingdings" panose="05000000000000000000" pitchFamily="2" charset="2"/>
              <a:buChar char="Ø"/>
            </a:pPr>
            <a:b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4.Support new and returning Users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71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A7890E-4F48-D47F-409C-81971C341770}"/>
              </a:ext>
            </a:extLst>
          </p:cNvPr>
          <p:cNvSpPr txBox="1"/>
          <p:nvPr/>
        </p:nvSpPr>
        <p:spPr>
          <a:xfrm>
            <a:off x="1388297" y="731299"/>
            <a:ext cx="8196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C16B53-5671-7795-7B61-E10EA4FC8880}"/>
              </a:ext>
            </a:extLst>
          </p:cNvPr>
          <p:cNvSpPr txBox="1"/>
          <p:nvPr/>
        </p:nvSpPr>
        <p:spPr>
          <a:xfrm>
            <a:off x="1306285" y="1393372"/>
            <a:ext cx="40712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0" i="0" u="none" strike="noStrike" baseline="0" dirty="0">
                <a:solidFill>
                  <a:srgbClr val="FF0000"/>
                </a:solidFill>
                <a:latin typeface="T3Font_15"/>
              </a:rPr>
              <a:t>32</a:t>
            </a:r>
            <a:r>
              <a:rPr lang="en-US" sz="3600" b="0" i="0" u="none" strike="noStrike" baseline="0" dirty="0">
                <a:solidFill>
                  <a:srgbClr val="FF0000"/>
                </a:solidFill>
                <a:latin typeface="T3Font_16"/>
              </a:rPr>
              <a:t>M </a:t>
            </a:r>
          </a:p>
          <a:p>
            <a:pPr algn="l"/>
            <a:endParaRPr lang="en-US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RATINGS</a:t>
            </a:r>
            <a:r>
              <a:rPr lang="en-US" sz="1800" b="0" i="0" u="none" strike="noStrike" baseline="0" dirty="0">
                <a:latin typeface="T3Font_20"/>
              </a:rPr>
              <a:t>.</a:t>
            </a:r>
          </a:p>
          <a:p>
            <a:pPr algn="l"/>
            <a:endParaRPr lang="en-US" dirty="0">
              <a:solidFill>
                <a:srgbClr val="333333"/>
              </a:solidFill>
              <a:latin typeface="T3Font_20"/>
            </a:endParaRPr>
          </a:p>
          <a:p>
            <a:pPr algn="l"/>
            <a:endParaRPr lang="en-US" dirty="0">
              <a:solidFill>
                <a:srgbClr val="333333"/>
              </a:solidFill>
              <a:latin typeface="T3Font_20"/>
            </a:endParaRPr>
          </a:p>
          <a:p>
            <a:pPr algn="l"/>
            <a:endParaRPr lang="en-US" dirty="0">
              <a:solidFill>
                <a:srgbClr val="333333"/>
              </a:solidFill>
              <a:latin typeface="T3Font_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Romance,  Comedy and Romance are the most frequent genre pairings.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6E17F3-B00A-28C7-05AF-8B7F12C86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020" y="1665391"/>
            <a:ext cx="4071257" cy="34726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AC1533-2F6B-DAD7-C8ED-EEF82B2F5A4E}"/>
              </a:ext>
            </a:extLst>
          </p:cNvPr>
          <p:cNvSpPr txBox="1"/>
          <p:nvPr/>
        </p:nvSpPr>
        <p:spPr>
          <a:xfrm>
            <a:off x="6899790" y="5105005"/>
            <a:ext cx="37984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range from 0.5 to 5.0, with a</a:t>
            </a:r>
          </a:p>
          <a:p>
            <a:pPr algn="l"/>
            <a:r>
              <a:rPr lang="en-US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of 3.5. Most users tend to rate</a:t>
            </a:r>
          </a:p>
          <a:p>
            <a:pPr algn="l"/>
            <a:r>
              <a:rPr lang="en-US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253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F1E38A-3611-799F-5E6B-988BBAD9FA9A}"/>
              </a:ext>
            </a:extLst>
          </p:cNvPr>
          <p:cNvSpPr txBox="1"/>
          <p:nvPr/>
        </p:nvSpPr>
        <p:spPr>
          <a:xfrm>
            <a:off x="1148442" y="642762"/>
            <a:ext cx="5736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558DF7-99DA-DA29-9D81-10890CBC552A}"/>
              </a:ext>
            </a:extLst>
          </p:cNvPr>
          <p:cNvSpPr txBox="1"/>
          <p:nvPr/>
        </p:nvSpPr>
        <p:spPr>
          <a:xfrm>
            <a:off x="1404258" y="1460035"/>
            <a:ext cx="23622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0.67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RECALL@ 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identifies a high proportion of movies that users would actually like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F816FF-54D8-0DF0-6B07-7A4C9BE78730}"/>
              </a:ext>
            </a:extLst>
          </p:cNvPr>
          <p:cNvSpPr txBox="1"/>
          <p:nvPr/>
        </p:nvSpPr>
        <p:spPr>
          <a:xfrm>
            <a:off x="5203372" y="1422913"/>
            <a:ext cx="303711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0.15%</a:t>
            </a:r>
          </a:p>
          <a:p>
            <a:endParaRPr lang="en-US" sz="2800" b="1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PRECISION@5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precision reflects the challenge of "correct" niche predictions being buried by popular content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1C50D8-FCF5-73D7-5106-20D00E028B87}"/>
              </a:ext>
            </a:extLst>
          </p:cNvPr>
          <p:cNvSpPr txBox="1"/>
          <p:nvPr/>
        </p:nvSpPr>
        <p:spPr>
          <a:xfrm>
            <a:off x="1148442" y="4056068"/>
            <a:ext cx="989511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 Bias &amp; List Quality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Bias: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Collaborative filtering tends to favor widely-liked movies, often missing specific individual tastes in the Top-5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Gap: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recall is high, the low precision indicates that the "hits" are often not in the top-most positions.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Need: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iterations require re-ranking strategies to penalize over-exposed popular content and boost diversity</a:t>
            </a:r>
          </a:p>
        </p:txBody>
      </p:sp>
    </p:spTree>
    <p:extLst>
      <p:ext uri="{BB962C8B-B14F-4D97-AF65-F5344CB8AC3E}">
        <p14:creationId xmlns:p14="http://schemas.microsoft.com/office/powerpoint/2010/main" val="3768551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94E886-EECB-412A-1CA7-FD2D591268E1}"/>
              </a:ext>
            </a:extLst>
          </p:cNvPr>
          <p:cNvSpPr txBox="1"/>
          <p:nvPr/>
        </p:nvSpPr>
        <p:spPr>
          <a:xfrm>
            <a:off x="1023257" y="794657"/>
            <a:ext cx="967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DOMINANCE AND CONTENT DIVERSITY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7712E-1645-8A43-FCB3-42F6A1FA9FDE}"/>
              </a:ext>
            </a:extLst>
          </p:cNvPr>
          <p:cNvSpPr txBox="1"/>
          <p:nvPr/>
        </p:nvSpPr>
        <p:spPr>
          <a:xfrm>
            <a:off x="903513" y="1720840"/>
            <a:ext cx="42127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Genre Concentration:</a:t>
            </a:r>
            <a:r>
              <a:rPr lang="en-US" dirty="0"/>
              <a:t> Drama and Comedy heavily weight the dataset.</a:t>
            </a:r>
          </a:p>
          <a:p>
            <a:endParaRPr lang="en-US" dirty="0"/>
          </a:p>
          <a:p>
            <a:r>
              <a:rPr lang="en-US" b="1" dirty="0"/>
              <a:t>Diversity Gap:</a:t>
            </a:r>
            <a:r>
              <a:rPr lang="en-US" dirty="0"/>
              <a:t> Standard collaborative filtering may overlook niche genres like Documentary or Film-Noir without active intervention.</a:t>
            </a:r>
          </a:p>
          <a:p>
            <a:endParaRPr lang="en-US" dirty="0"/>
          </a:p>
          <a:p>
            <a:r>
              <a:rPr lang="en-US" b="1" dirty="0"/>
              <a:t>Strategic Balancing:</a:t>
            </a:r>
            <a:r>
              <a:rPr lang="en-US" dirty="0"/>
              <a:t> Using genre-based cosine similarity helps maintain diversity, especially during the critical cold-start phase.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C8493-BAAD-0E30-D859-E5E070254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173" y="1317877"/>
            <a:ext cx="6259286" cy="503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519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65456A-84BE-E818-292A-68FBDCAC45B4}"/>
              </a:ext>
            </a:extLst>
          </p:cNvPr>
          <p:cNvSpPr txBox="1"/>
          <p:nvPr/>
        </p:nvSpPr>
        <p:spPr>
          <a:xfrm>
            <a:off x="1458686" y="881743"/>
            <a:ext cx="32606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Long-Tail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7252C-CD27-5FF3-B06B-EB45110FD5CE}"/>
              </a:ext>
            </a:extLst>
          </p:cNvPr>
          <p:cNvSpPr txBox="1"/>
          <p:nvPr/>
        </p:nvSpPr>
        <p:spPr>
          <a:xfrm>
            <a:off x="1153886" y="1502228"/>
            <a:ext cx="107768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Right-Skewed Data:</a:t>
            </a:r>
            <a:r>
              <a:rPr lang="en-US" dirty="0"/>
              <a:t> A small number of "blockbuster" movies receive the vast majority of ratings, dominating the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Power User Bias:</a:t>
            </a:r>
            <a:r>
              <a:rPr lang="en-US" dirty="0"/>
              <a:t> A minority of users contribute most of the data, potentially skewing recommendations toward their specific tastes.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Long Tail:</a:t>
            </a:r>
            <a:r>
              <a:rPr lang="en-US" dirty="0"/>
              <a:t> Niche movies lack sufficient interaction data, making them difficult for collaborative filtering to surface.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6E888A-2B3E-2FFA-909F-E88B47339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6" y="3175497"/>
            <a:ext cx="12028768" cy="354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22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403E45-05E5-05C8-857E-BF4326CC201A}"/>
              </a:ext>
            </a:extLst>
          </p:cNvPr>
          <p:cNvSpPr txBox="1"/>
          <p:nvPr/>
        </p:nvSpPr>
        <p:spPr>
          <a:xfrm>
            <a:off x="1001487" y="718458"/>
            <a:ext cx="6629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 Cold-Start Dilemma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7B05C-712E-C154-D1C1-2CE6DD9611BA}"/>
              </a:ext>
            </a:extLst>
          </p:cNvPr>
          <p:cNvSpPr txBox="1"/>
          <p:nvPr/>
        </p:nvSpPr>
        <p:spPr>
          <a:xfrm>
            <a:off x="1077686" y="1632857"/>
            <a:ext cx="253637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Returning Users</a:t>
            </a:r>
          </a:p>
          <a:p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SVD Model: Active when user has ≥ 10 ratings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Personalization: Leverages latent features from historical interactions.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Highly specific Top-5 movie predictions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2E2B64-2CD4-B7F1-DADC-F9BC36396713}"/>
              </a:ext>
            </a:extLst>
          </p:cNvPr>
          <p:cNvSpPr txBox="1"/>
          <p:nvPr/>
        </p:nvSpPr>
        <p:spPr>
          <a:xfrm>
            <a:off x="3918858" y="1632857"/>
            <a:ext cx="275408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New Users (1-9 Ratings)</a:t>
            </a:r>
          </a:p>
          <a:p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Content-Based: TF-IDF vectorization on movie genres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Similarity: Recommends items similar to the few movies already liked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Bridge: Maintains quality until enough data is gathered for SVD.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CDE54-1F13-AE2C-7A55-783CA78B0DFE}"/>
              </a:ext>
            </a:extLst>
          </p:cNvPr>
          <p:cNvSpPr txBox="1"/>
          <p:nvPr/>
        </p:nvSpPr>
        <p:spPr>
          <a:xfrm>
            <a:off x="7750629" y="1632857"/>
            <a:ext cx="300445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Zero-Data Users</a:t>
            </a:r>
          </a:p>
          <a:p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 Fallback: Surfaces highest-rated movies with &gt; 50 ratings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Conversion: Goal is to prompt the first 10 ratings quickly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4288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6A2905-2A80-3058-AA89-C2F4823069F7}"/>
              </a:ext>
            </a:extLst>
          </p:cNvPr>
          <p:cNvSpPr txBox="1"/>
          <p:nvPr/>
        </p:nvSpPr>
        <p:spPr>
          <a:xfrm>
            <a:off x="1426028" y="903515"/>
            <a:ext cx="8588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Path to a Scalable Recommender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A860B4-143F-DD6D-BC6B-D9888F535132}"/>
              </a:ext>
            </a:extLst>
          </p:cNvPr>
          <p:cNvSpPr txBox="1"/>
          <p:nvPr/>
        </p:nvSpPr>
        <p:spPr>
          <a:xfrm>
            <a:off x="1045028" y="2013857"/>
            <a:ext cx="9829801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SVD Superiority: Matrix factorization consistently outperforms KNN in handling sparse movie rating data.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Dataset Training: Moving from 100k samples to the full 32M ratings is expected to close the RMSE/MAE gap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Coverage: The combination of SVD and Content-Based models ensures every user receives recommendations.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Richer Metadata: Incorporating cast, directors, and plot keywords to improve cold-start accuracy.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 Re-ranking: Implementing penalties for over-exposed popular content to boost niche discovery.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699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8393-8696-C2F6-45E8-58E5A349B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6430"/>
            <a:ext cx="10515600" cy="226763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1756692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207</TotalTime>
  <Words>612</Words>
  <Application>Microsoft Office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4" baseType="lpstr">
      <vt:lpstr>Arial</vt:lpstr>
      <vt:lpstr>Century Gothic</vt:lpstr>
      <vt:lpstr>Consolas</vt:lpstr>
      <vt:lpstr>PlayfairDisplay-ExtraBold</vt:lpstr>
      <vt:lpstr>T3Font_15</vt:lpstr>
      <vt:lpstr>T3Font_16</vt:lpstr>
      <vt:lpstr>T3Font_20</vt:lpstr>
      <vt:lpstr>T3Font_6</vt:lpstr>
      <vt:lpstr>T3Font_7</vt:lpstr>
      <vt:lpstr>T3Font_8</vt:lpstr>
      <vt:lpstr>Times New Roman</vt:lpstr>
      <vt:lpstr>Wingdings</vt:lpstr>
      <vt:lpstr>Wingdings 3</vt:lpstr>
      <vt:lpstr>Ion</vt:lpstr>
      <vt:lpstr>Mountain View Streaming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Felista</dc:creator>
  <cp:lastModifiedBy>Felista</cp:lastModifiedBy>
  <cp:revision>3</cp:revision>
  <dcterms:created xsi:type="dcterms:W3CDTF">2026-06-14T13:39:21Z</dcterms:created>
  <dcterms:modified xsi:type="dcterms:W3CDTF">2026-06-14T17:08:31Z</dcterms:modified>
</cp:coreProperties>
</file>